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>
        <p:scale>
          <a:sx n="92" d="100"/>
          <a:sy n="92" d="100"/>
        </p:scale>
        <p:origin x="336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Real Estate Investment Intelligence: A Data-Driven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Identifying Value Drivers and Undervalued Assets in the Housing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B6125-5FB2-BB11-1F03-4A19B6461FA8}"/>
              </a:ext>
            </a:extLst>
          </p:cNvPr>
          <p:cNvSpPr txBox="1"/>
          <p:nvPr/>
        </p:nvSpPr>
        <p:spPr>
          <a:xfrm>
            <a:off x="-318231" y="233265"/>
            <a:ext cx="3443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Elite Associate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85536-04F5-A6C3-E2A0-505A94FC4F7A}"/>
              </a:ext>
            </a:extLst>
          </p:cNvPr>
          <p:cNvSpPr txBox="1"/>
          <p:nvPr/>
        </p:nvSpPr>
        <p:spPr>
          <a:xfrm>
            <a:off x="302750" y="5803641"/>
            <a:ext cx="207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Presenter : Shobhit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2000" b="1" dirty="0"/>
              <a:t>The Goal:</a:t>
            </a:r>
            <a:r>
              <a:rPr lang="en-US" sz="2000" dirty="0"/>
              <a:t> Transform raw housing data into a strategic investment roadmap.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Key Questions Answered: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What are the primary drivers of price?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Which zones command the highest premiums?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How does property size impact price efficiency?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Where are the "hidden gems" (undervalued properties)?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0EC1-552F-62E2-72FB-F51B5BFF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Integrity &amp; Health</a:t>
            </a:r>
          </a:p>
        </p:txBody>
      </p:sp>
      <p:pic>
        <p:nvPicPr>
          <p:cNvPr id="7" name="Picture Placeholder 6" descr="A graph of distribution of a number of patients">
            <a:extLst>
              <a:ext uri="{FF2B5EF4-FFF2-40B4-BE49-F238E27FC236}">
                <a16:creationId xmlns:a16="http://schemas.microsoft.com/office/drawing/2014/main" id="{8DE6A047-0B5E-712A-5222-652823BE5AD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4481" r="24481"/>
          <a:stretch>
            <a:fillRect/>
          </a:stretch>
        </p:blipFill>
        <p:spPr>
          <a:xfrm>
            <a:off x="6382139" y="643812"/>
            <a:ext cx="5467739" cy="4896396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C5A9965-2D74-0431-2D27-270C313070B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50506" y="3093384"/>
            <a:ext cx="58316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Specs: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511 Property Records across 14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in structural data (Rooms) and normalized feature distributions.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 is a mix of structural (size/age), environmental (pollution), and social (education/status) variables.</a:t>
            </a:r>
          </a:p>
        </p:txBody>
      </p:sp>
    </p:spTree>
    <p:extLst>
      <p:ext uri="{BB962C8B-B14F-4D97-AF65-F5344CB8AC3E}">
        <p14:creationId xmlns:p14="http://schemas.microsoft.com/office/powerpoint/2010/main" val="425808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5295-2AD7-FA5E-D886-117441BB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5" y="487052"/>
            <a:ext cx="4205905" cy="1030066"/>
          </a:xfrm>
        </p:spPr>
        <p:txBody>
          <a:bodyPr/>
          <a:lstStyle/>
          <a:p>
            <a:r>
              <a:rPr lang="en-US" dirty="0"/>
              <a:t>The Primary Price Drivers (Business Q1)</a:t>
            </a:r>
            <a:endParaRPr lang="en-IN" dirty="0"/>
          </a:p>
        </p:txBody>
      </p:sp>
      <p:pic>
        <p:nvPicPr>
          <p:cNvPr id="7" name="Content Placeholder 6" descr="A graph of a red line and blue dots&#10;&#10;AI-generated content may be incorrect.">
            <a:extLst>
              <a:ext uri="{FF2B5EF4-FFF2-40B4-BE49-F238E27FC236}">
                <a16:creationId xmlns:a16="http://schemas.microsoft.com/office/drawing/2014/main" id="{42B454D6-7036-25C2-0838-C115E8765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0938" y="1249669"/>
            <a:ext cx="5287962" cy="4001475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17EE856-B0DE-3C8B-87CB-D6548850863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8535" y="1995963"/>
            <a:ext cx="5288438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Age Penalty: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Properties lose value as they age unless located in a "Historic" premium zone.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</a:t>
            </a:r>
            <a:r>
              <a:rPr lang="en-US" altLang="en-US" b="1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Matters: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rooms (RM) is the #1 predictor of value ($r = 0.70$).</a:t>
            </a:r>
          </a:p>
          <a:p>
            <a:pPr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ental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Impact: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Nitric Oxide (NOX) levels significantly correlate with lower property values.</a:t>
            </a:r>
          </a:p>
        </p:txBody>
      </p:sp>
    </p:spTree>
    <p:extLst>
      <p:ext uri="{BB962C8B-B14F-4D97-AF65-F5344CB8AC3E}">
        <p14:creationId xmlns:p14="http://schemas.microsoft.com/office/powerpoint/2010/main" val="252503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8D87-DE59-057A-9044-0ACB3EB3E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944" y="879024"/>
            <a:ext cx="3706889" cy="980315"/>
          </a:xfrm>
        </p:spPr>
        <p:txBody>
          <a:bodyPr/>
          <a:lstStyle/>
          <a:p>
            <a:r>
              <a:rPr lang="en-US" dirty="0"/>
              <a:t>Mapping Premium Zones (Business Q2)</a:t>
            </a:r>
            <a:endParaRPr lang="en-IN" dirty="0"/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E2CADB69-9275-9DAA-1B48-B082D29E0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8566" y="1492305"/>
            <a:ext cx="5008563" cy="387339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A85D1D6-6D04-31FF-5643-9CA6B9C6551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84871" y="1859339"/>
            <a:ext cx="53116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6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accessibility to radial highways increases land value but can be offset by noise/pollution.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"River"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Effect: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near the Charles River command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15-25% price premium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Status: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Socio-economic status (LSTAT) is the strongest negative driver—luxury is defined by location status as much as size.</a:t>
            </a:r>
          </a:p>
        </p:txBody>
      </p:sp>
    </p:spTree>
    <p:extLst>
      <p:ext uri="{BB962C8B-B14F-4D97-AF65-F5344CB8AC3E}">
        <p14:creationId xmlns:p14="http://schemas.microsoft.com/office/powerpoint/2010/main" val="356299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960A7-B0D4-0CAF-48B2-A05BA65BAEFA}"/>
              </a:ext>
            </a:extLst>
          </p:cNvPr>
          <p:cNvSpPr txBox="1"/>
          <p:nvPr/>
        </p:nvSpPr>
        <p:spPr>
          <a:xfrm>
            <a:off x="789709" y="822960"/>
            <a:ext cx="42976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Size vs. Price Efficiency (Business Q3)</a:t>
            </a:r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7F0AF8-50DD-9ACB-5403-B93EEE59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1" y="2136338"/>
            <a:ext cx="6096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Luxury Shift: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 per room is stable for 5-6 rooms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spikes for 8+ rooms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Larger homes are not just "bigger"—they enter a different market class where buyers pay a premium for the "luxury"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Mid-sized homes offer the best value-to-cost ratio for standard families.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EFE696-52DA-8701-3ACE-9783A0641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608" y="1088967"/>
            <a:ext cx="4867954" cy="30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C6990-E2F9-D27B-A1B2-9234B233B969}"/>
              </a:ext>
            </a:extLst>
          </p:cNvPr>
          <p:cNvSpPr txBox="1"/>
          <p:nvPr/>
        </p:nvSpPr>
        <p:spPr>
          <a:xfrm>
            <a:off x="299257" y="781396"/>
            <a:ext cx="4896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Predictive Intelligence (The AI Model)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B54D7C-F962-B52B-AB2A-23CD5E881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57" y="2274838"/>
            <a:ext cx="66086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Regressor (Ensemble Learning).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a low Mean Absolute Error (MAE), meaning our "Fair Value" estimates are highly reliable.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for 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model relies heavily 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 (Rooms), LSTAT (Status), and DIS (Distance to Jobs).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47BE25D0-93A7-47AF-3705-65F7788B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556" y="1288472"/>
            <a:ext cx="5259187" cy="38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447457-D45E-FA81-9869-8B82193F9AC3}"/>
              </a:ext>
            </a:extLst>
          </p:cNvPr>
          <p:cNvSpPr txBox="1"/>
          <p:nvPr/>
        </p:nvSpPr>
        <p:spPr>
          <a:xfrm>
            <a:off x="523703" y="1737360"/>
            <a:ext cx="10548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are standing in front of your colleagues, use these "talking points" to sound professional: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On Question 1 (Drivers):</a:t>
            </a:r>
            <a:r>
              <a:rPr lang="en-US" dirty="0"/>
              <a:t> </a:t>
            </a:r>
            <a:r>
              <a:rPr lang="en-US" i="1" dirty="0"/>
              <a:t>"While we intuitively know bigger houses cost more, our data quantifies it: every extra room adds roughly $9k to the value, but this is capped by the 'Age' of the neighborhood.“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On Question 2 (Zones):</a:t>
            </a:r>
            <a:r>
              <a:rPr lang="en-US" dirty="0"/>
              <a:t> </a:t>
            </a:r>
            <a:r>
              <a:rPr lang="en-US" i="1" dirty="0"/>
              <a:t>"Location isn't just a zip code; it's environmental. The Charles River proximity acts as a 'Floor' for prices—it's very hard to find a cheap house on the water.“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On Question 3 (Size):</a:t>
            </a:r>
            <a:r>
              <a:rPr lang="en-US" dirty="0"/>
              <a:t> </a:t>
            </a:r>
            <a:r>
              <a:rPr lang="en-US" i="1" dirty="0"/>
              <a:t>"We found that the market isn't linear. There is a sweet spot for investors at 6 rooms; once you hit 8 rooms, you enter a 'Luxury Tier' where buyers pay a premium for the status, not just the space.“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On Question 4 (The Model):</a:t>
            </a:r>
            <a:r>
              <a:rPr lang="en-US" dirty="0"/>
              <a:t> </a:t>
            </a:r>
            <a:r>
              <a:rPr lang="en-US" i="1" dirty="0"/>
              <a:t>"The most valuable part of this project is our 'Investment Gap' analysis. By comparing what our model says a house should be worth versus its current price, we've identified 10 properties that are statistically undervalued by the market."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CE0E-882B-A91E-E938-4363B6D1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88276"/>
            <a:ext cx="10353762" cy="1257300"/>
          </a:xfrm>
        </p:spPr>
        <p:txBody>
          <a:bodyPr/>
          <a:lstStyle/>
          <a:p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150907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{3083FAB5-6B28-4431-8B1B-0A702A48EEC6}TFe742eee6-54b3-45e8-a03d-f3d997f9b6caf6c338c2_win32-3734725ae7e2</Template>
  <TotalTime>78</TotalTime>
  <Words>614</Words>
  <Application>Microsoft Office PowerPoint</Application>
  <PresentationFormat>Widescreen</PresentationFormat>
  <Paragraphs>55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Goudy Old Style</vt:lpstr>
      <vt:lpstr>Times New Roman</vt:lpstr>
      <vt:lpstr>Wingdings 2</vt:lpstr>
      <vt:lpstr>SlateVTI</vt:lpstr>
      <vt:lpstr>Real Estate Investment Intelligence: A Data-Driven Approach</vt:lpstr>
      <vt:lpstr>The Goal: Transform raw housing data into a strategic investment roadmap. </vt:lpstr>
      <vt:lpstr>Data Integrity &amp; Health</vt:lpstr>
      <vt:lpstr>The Primary Price Drivers (Business Q1)</vt:lpstr>
      <vt:lpstr>Mapping Premium Zones (Business Q2)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Shobhit Gajbe</dc:creator>
  <cp:lastModifiedBy>Shobhit Gajbe</cp:lastModifiedBy>
  <cp:revision>1</cp:revision>
  <dcterms:created xsi:type="dcterms:W3CDTF">2026-02-09T10:25:44Z</dcterms:created>
  <dcterms:modified xsi:type="dcterms:W3CDTF">2026-02-09T11:44:27Z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